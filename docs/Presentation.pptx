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aret Bold" charset="1" panose="00000000000000000000"/>
      <p:regular r:id="rId15"/>
    </p:embeddedFont>
    <p:embeddedFont>
      <p:font typeface="Garet" charset="1" panose="00000000000000000000"/>
      <p:regular r:id="rId16"/>
    </p:embeddedFont>
    <p:embeddedFont>
      <p:font typeface="Telegraf" charset="1" panose="00000500000000000000"/>
      <p:regular r:id="rId17"/>
    </p:embeddedFont>
    <p:embeddedFont>
      <p:font typeface="Telegraf Bold" charset="1" panose="00000800000000000000"/>
      <p:regular r:id="rId18"/>
    </p:embeddedFont>
    <p:embeddedFont>
      <p:font typeface="League Spartan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1667" y="1081844"/>
            <a:ext cx="16384666" cy="505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Grocery Classification: </a:t>
            </a:r>
          </a:p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CNN vs. Vision Transformer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204823"/>
            <a:ext cx="14214686" cy="498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6"/>
              </a:lnSpc>
            </a:pPr>
            <a:r>
              <a:rPr lang="en-US" sz="2861" spc="286">
                <a:solidFill>
                  <a:srgbClr val="16130D"/>
                </a:solidFill>
                <a:latin typeface="Garet"/>
                <a:ea typeface="Garet"/>
                <a:cs typeface="Garet"/>
                <a:sym typeface="Garet"/>
              </a:rPr>
              <a:t>A STUDY OF TRANSFER LEARNING VS. TRAINING FROM SCRATCH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36657" y="9220200"/>
            <a:ext cx="142146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240">
                <a:solidFill>
                  <a:srgbClr val="16130D"/>
                </a:solidFill>
                <a:latin typeface="Garet"/>
                <a:ea typeface="Garet"/>
                <a:cs typeface="Garet"/>
                <a:sym typeface="Garet"/>
              </a:rPr>
              <a:t>Vineela Goli | CS 5330 | Northeastern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750289"/>
            <a:chOff x="0" y="0"/>
            <a:chExt cx="4816593" cy="72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24356"/>
            </a:xfrm>
            <a:custGeom>
              <a:avLst/>
              <a:gdLst/>
              <a:ahLst/>
              <a:cxnLst/>
              <a:rect r="r" b="b" t="t" l="l"/>
              <a:pathLst>
                <a:path h="7243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24356"/>
                  </a:lnTo>
                  <a:lnTo>
                    <a:pt x="0" y="724356"/>
                  </a:lnTo>
                  <a:close/>
                </a:path>
              </a:pathLst>
            </a:custGeom>
            <a:solidFill>
              <a:srgbClr val="16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62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919838" y="6741203"/>
            <a:ext cx="2344417" cy="2344407"/>
            <a:chOff x="0" y="0"/>
            <a:chExt cx="6350025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0" t="-5401" r="0" b="-540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4578580" y="6741203"/>
            <a:ext cx="2344417" cy="2344407"/>
            <a:chOff x="0" y="0"/>
            <a:chExt cx="6350025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-3619" t="0" r="-3619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237322" y="6741203"/>
            <a:ext cx="2344417" cy="2344407"/>
            <a:chOff x="0" y="0"/>
            <a:chExt cx="6350025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4"/>
              <a:stretch>
                <a:fillRect l="-1679" t="0" r="-1679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896064" y="6875692"/>
            <a:ext cx="3132725" cy="2075430"/>
          </a:xfrm>
          <a:custGeom>
            <a:avLst/>
            <a:gdLst/>
            <a:ahLst/>
            <a:cxnLst/>
            <a:rect r="r" b="b" t="t" l="l"/>
            <a:pathLst>
              <a:path h="2075430" w="3132725">
                <a:moveTo>
                  <a:pt x="0" y="0"/>
                </a:moveTo>
                <a:lnTo>
                  <a:pt x="3132724" y="0"/>
                </a:lnTo>
                <a:lnTo>
                  <a:pt x="3132724" y="2075430"/>
                </a:lnTo>
                <a:lnTo>
                  <a:pt x="0" y="2075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39249" y="6875692"/>
            <a:ext cx="3115092" cy="2075430"/>
          </a:xfrm>
          <a:custGeom>
            <a:avLst/>
            <a:gdLst/>
            <a:ahLst/>
            <a:cxnLst/>
            <a:rect r="r" b="b" t="t" l="l"/>
            <a:pathLst>
              <a:path h="2075430" w="3115092">
                <a:moveTo>
                  <a:pt x="0" y="0"/>
                </a:moveTo>
                <a:lnTo>
                  <a:pt x="3115092" y="0"/>
                </a:lnTo>
                <a:lnTo>
                  <a:pt x="3115092" y="2075430"/>
                </a:lnTo>
                <a:lnTo>
                  <a:pt x="0" y="2075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3045503"/>
            <a:ext cx="1623060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Grocery items are visually similar (round red fruits, leafy greens, root vegetables)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Real-world photos add lighting, angles, background clutter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b="true" sz="2400" spc="240">
                <a:solidFill>
                  <a:srgbClr val="16130D"/>
                </a:solidFill>
                <a:latin typeface="Telegraf Bold"/>
                <a:ea typeface="Telegraf Bold"/>
                <a:cs typeface="Telegraf Bold"/>
                <a:sym typeface="Telegraf Bold"/>
              </a:rPr>
              <a:t>Goal:</a:t>
            </a: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 Classify 36 types of fruits and vegetables from images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b="true" sz="2400" spc="240">
                <a:solidFill>
                  <a:srgbClr val="16130D"/>
                </a:solidFill>
                <a:latin typeface="Telegraf Bold"/>
                <a:ea typeface="Telegraf Bold"/>
                <a:cs typeface="Telegraf Bold"/>
                <a:sym typeface="Telegraf Bold"/>
              </a:rPr>
              <a:t>Core Question:</a:t>
            </a: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 Can a Vision Transformer trained from scratch compete with a fine-tuned CNN?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582805"/>
            <a:ext cx="671142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750289"/>
            <a:chOff x="0" y="0"/>
            <a:chExt cx="4816593" cy="72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24356"/>
            </a:xfrm>
            <a:custGeom>
              <a:avLst/>
              <a:gdLst/>
              <a:ahLst/>
              <a:cxnLst/>
              <a:rect r="r" b="b" t="t" l="l"/>
              <a:pathLst>
                <a:path h="7243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24356"/>
                  </a:lnTo>
                  <a:lnTo>
                    <a:pt x="0" y="724356"/>
                  </a:lnTo>
                  <a:close/>
                </a:path>
              </a:pathLst>
            </a:custGeom>
            <a:solidFill>
              <a:srgbClr val="16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62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442979"/>
            <a:ext cx="7886296" cy="4386752"/>
          </a:xfrm>
          <a:custGeom>
            <a:avLst/>
            <a:gdLst/>
            <a:ahLst/>
            <a:cxnLst/>
            <a:rect r="r" b="b" t="t" l="l"/>
            <a:pathLst>
              <a:path h="4386752" w="7886296">
                <a:moveTo>
                  <a:pt x="0" y="0"/>
                </a:moveTo>
                <a:lnTo>
                  <a:pt x="7886296" y="0"/>
                </a:lnTo>
                <a:lnTo>
                  <a:pt x="7886296" y="4386752"/>
                </a:lnTo>
                <a:lnTo>
                  <a:pt x="0" y="4386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299853"/>
            <a:ext cx="7886296" cy="214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4289"/>
              </a:lnSpc>
              <a:buFont typeface="Arial"/>
              <a:buChar char="•"/>
            </a:pPr>
            <a:r>
              <a:rPr lang="en-US" sz="2199" spc="219" u="sng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Source</a:t>
            </a:r>
            <a:r>
              <a:rPr lang="en-US" sz="2199" spc="219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: Kaggle Fruit &amp; Vegetable Image Recognition dataset by K. Seth</a:t>
            </a:r>
          </a:p>
          <a:p>
            <a:pPr algn="l" marL="474978" indent="-237489" lvl="1">
              <a:lnSpc>
                <a:spcPts val="4289"/>
              </a:lnSpc>
              <a:buFont typeface="Arial"/>
              <a:buChar char="•"/>
            </a:pPr>
            <a:r>
              <a:rPr lang="en-US" sz="2199" spc="219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36 Classes</a:t>
            </a:r>
          </a:p>
          <a:p>
            <a:pPr algn="l" marL="474978" indent="-237489" lvl="1">
              <a:lnSpc>
                <a:spcPts val="4289"/>
              </a:lnSpc>
              <a:buFont typeface="Arial"/>
              <a:buChar char="•"/>
            </a:pPr>
            <a:r>
              <a:rPr lang="en-US" sz="2199" spc="219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~3136 training images, ~384 test images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82805"/>
            <a:ext cx="98962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Dataset &amp;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6094" y="2828471"/>
            <a:ext cx="64849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91662" y="3299853"/>
            <a:ext cx="7367638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4290"/>
              </a:lnSpc>
              <a:buFont typeface="Arial"/>
              <a:buChar char="•"/>
            </a:pPr>
            <a:r>
              <a:rPr lang="en-US" sz="2200" spc="22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Train: Resize (256x256) → RandomCrop (224×224) → RandomHorizontalFlip → Normalize</a:t>
            </a:r>
          </a:p>
          <a:p>
            <a:pPr algn="l" marL="474981" indent="-237491" lvl="1">
              <a:lnSpc>
                <a:spcPts val="4290"/>
              </a:lnSpc>
              <a:buFont typeface="Arial"/>
              <a:buChar char="•"/>
            </a:pPr>
            <a:r>
              <a:rPr lang="en-US" sz="2200" spc="22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Test: Resize (256x256) → CenterCrop (224×224) → Normalize</a:t>
            </a:r>
          </a:p>
          <a:p>
            <a:pPr algn="l" marL="474981" indent="-237491" lvl="1">
              <a:lnSpc>
                <a:spcPts val="4290"/>
              </a:lnSpc>
              <a:buFont typeface="Arial"/>
              <a:buChar char="•"/>
            </a:pPr>
            <a:r>
              <a:rPr lang="en-US" sz="2200" spc="22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Normalization uses ImageNet mean [0.485, 0.456, 0.406] and std [0.229, 0.224, 0.225]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3132" y="2828471"/>
            <a:ext cx="64849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Proprocessing Pipeline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750289"/>
            <a:chOff x="0" y="0"/>
            <a:chExt cx="4816593" cy="72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24356"/>
            </a:xfrm>
            <a:custGeom>
              <a:avLst/>
              <a:gdLst/>
              <a:ahLst/>
              <a:cxnLst/>
              <a:rect r="r" b="b" t="t" l="l"/>
              <a:pathLst>
                <a:path h="7243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24356"/>
                  </a:lnTo>
                  <a:lnTo>
                    <a:pt x="0" y="724356"/>
                  </a:lnTo>
                  <a:close/>
                </a:path>
              </a:pathLst>
            </a:custGeom>
            <a:solidFill>
              <a:srgbClr val="16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62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28876"/>
            <a:ext cx="7886296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Pretrained on ImageNet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Fine-tuned in two phases</a:t>
            </a:r>
          </a:p>
          <a:p>
            <a:pPr algn="l" marL="1036320" indent="-345440" lvl="2">
              <a:lnSpc>
                <a:spcPts val="4680"/>
              </a:lnSpc>
              <a:buFont typeface="Arial"/>
              <a:buChar char="⚬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Frozen base → replace final layer: 512 → 36 classes</a:t>
            </a:r>
          </a:p>
          <a:p>
            <a:pPr algn="l" marL="1036320" indent="-345440" lvl="2">
              <a:lnSpc>
                <a:spcPts val="4680"/>
              </a:lnSpc>
              <a:buFont typeface="Arial"/>
              <a:buChar char="⚬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All layers unfrozen and full fine-tuning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Convolution inductive bias built-in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82805"/>
            <a:ext cx="98962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Model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3867" y="3040561"/>
            <a:ext cx="64849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27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ResNet18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91662" y="3528876"/>
            <a:ext cx="7367638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Image split into 196 non-overlapping 16x16 patches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Projected to 192 dim embeddings + learnable positional encoding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6 transformer encoder layers, 6 attention heads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Mean token pooling → LayerNorm → 2-layer MLP (192→384→36) → 36 classes </a:t>
            </a:r>
          </a:p>
          <a:p>
            <a:pPr algn="l" marL="518160" indent="-259080" lvl="1">
              <a:lnSpc>
                <a:spcPts val="4680"/>
              </a:lnSpc>
              <a:buFont typeface="Arial"/>
              <a:buChar char="•"/>
            </a:pPr>
            <a:r>
              <a:rPr lang="en-US" sz="2400" spc="24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No pretraining. Learned everything from our 3K images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5841" y="3040561"/>
            <a:ext cx="76792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2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 Transformer (From Scratch)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9144000" y="2693576"/>
            <a:ext cx="0" cy="7593424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750289"/>
            <a:chOff x="0" y="0"/>
            <a:chExt cx="4816593" cy="72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24356"/>
            </a:xfrm>
            <a:custGeom>
              <a:avLst/>
              <a:gdLst/>
              <a:ahLst/>
              <a:cxnLst/>
              <a:rect r="r" b="b" t="t" l="l"/>
              <a:pathLst>
                <a:path h="7243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24356"/>
                  </a:lnTo>
                  <a:lnTo>
                    <a:pt x="0" y="724356"/>
                  </a:lnTo>
                  <a:close/>
                </a:path>
              </a:pathLst>
            </a:custGeom>
            <a:solidFill>
              <a:srgbClr val="16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62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9144000" y="2693576"/>
            <a:ext cx="0" cy="7593424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41156" y="5721797"/>
            <a:ext cx="6661384" cy="4163365"/>
          </a:xfrm>
          <a:custGeom>
            <a:avLst/>
            <a:gdLst/>
            <a:ahLst/>
            <a:cxnLst/>
            <a:rect r="r" b="b" t="t" l="l"/>
            <a:pathLst>
              <a:path h="4163365" w="6661384">
                <a:moveTo>
                  <a:pt x="0" y="0"/>
                </a:moveTo>
                <a:lnTo>
                  <a:pt x="6661384" y="0"/>
                </a:lnTo>
                <a:lnTo>
                  <a:pt x="6661384" y="4163365"/>
                </a:lnTo>
                <a:lnTo>
                  <a:pt x="0" y="4163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547926"/>
            <a:ext cx="7886296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094"/>
              </a:lnSpc>
              <a:buFont typeface="Arial"/>
              <a:buChar char="•"/>
            </a:pPr>
            <a:r>
              <a:rPr lang="en-US" sz="2100" spc="21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Two-phase strategy:</a:t>
            </a:r>
          </a:p>
          <a:p>
            <a:pPr algn="l" marL="906780" indent="-302260" lvl="2">
              <a:lnSpc>
                <a:spcPts val="4094"/>
              </a:lnSpc>
              <a:buFont typeface="Arial"/>
              <a:buChar char="⚬"/>
            </a:pPr>
            <a:r>
              <a:rPr lang="en-US" sz="2100" spc="21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10 Epochs → Head Only → 1e-3(Adam) LR</a:t>
            </a:r>
          </a:p>
          <a:p>
            <a:pPr algn="l" marL="906780" indent="-302260" lvl="2">
              <a:lnSpc>
                <a:spcPts val="4094"/>
              </a:lnSpc>
              <a:buFont typeface="Arial"/>
              <a:buChar char="⚬"/>
            </a:pPr>
            <a:r>
              <a:rPr lang="en-US" sz="2100" spc="21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5 Epochs → All layers → 1e-4(Adam) LR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82805"/>
            <a:ext cx="98962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Training Strategy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867" y="3040561"/>
            <a:ext cx="64849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2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ResNet18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1662" y="3547926"/>
            <a:ext cx="7785862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094"/>
              </a:lnSpc>
              <a:buFont typeface="Arial"/>
              <a:buChar char="•"/>
            </a:pPr>
            <a:r>
              <a:rPr lang="en-US" sz="2100" spc="21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35 epochs (extended from 20 after insufficient convergence)</a:t>
            </a:r>
          </a:p>
          <a:p>
            <a:pPr algn="l" marL="453390" indent="-226695" lvl="1">
              <a:lnSpc>
                <a:spcPts val="4094"/>
              </a:lnSpc>
              <a:buFont typeface="Arial"/>
              <a:buChar char="•"/>
            </a:pPr>
            <a:r>
              <a:rPr lang="en-US" sz="2100" spc="21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AdamW optimizer 1e-3, weight_decay 1e-4</a:t>
            </a:r>
          </a:p>
          <a:p>
            <a:pPr algn="l" marL="453390" indent="-226695" lvl="1">
              <a:lnSpc>
                <a:spcPts val="4094"/>
              </a:lnSpc>
              <a:buFont typeface="Arial"/>
              <a:buChar char="•"/>
            </a:pPr>
            <a:r>
              <a:rPr lang="en-US" sz="2100" spc="210">
                <a:solidFill>
                  <a:srgbClr val="16130D"/>
                </a:solidFill>
                <a:latin typeface="Telegraf"/>
                <a:ea typeface="Telegraf"/>
                <a:cs typeface="Telegraf"/>
                <a:sym typeface="Telegraf"/>
              </a:rPr>
              <a:t>Cosine annealing LR scheduler</a:t>
            </a:r>
          </a:p>
          <a:p>
            <a:pPr algn="l">
              <a:lnSpc>
                <a:spcPts val="409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35841" y="3040561"/>
            <a:ext cx="76792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27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 Transformer (From Scratch)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891662" y="5721797"/>
            <a:ext cx="6627431" cy="4142144"/>
          </a:xfrm>
          <a:custGeom>
            <a:avLst/>
            <a:gdLst/>
            <a:ahLst/>
            <a:cxnLst/>
            <a:rect r="r" b="b" t="t" l="l"/>
            <a:pathLst>
              <a:path h="4142144" w="6627431">
                <a:moveTo>
                  <a:pt x="0" y="0"/>
                </a:moveTo>
                <a:lnTo>
                  <a:pt x="6627431" y="0"/>
                </a:lnTo>
                <a:lnTo>
                  <a:pt x="6627431" y="4142144"/>
                </a:lnTo>
                <a:lnTo>
                  <a:pt x="0" y="4142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0"/>
            <a:ext cx="18288000" cy="2750289"/>
            <a:chOff x="0" y="0"/>
            <a:chExt cx="4816593" cy="72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24356"/>
            </a:xfrm>
            <a:custGeom>
              <a:avLst/>
              <a:gdLst/>
              <a:ahLst/>
              <a:cxnLst/>
              <a:rect r="r" b="b" t="t" l="l"/>
              <a:pathLst>
                <a:path h="7243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24356"/>
                  </a:lnTo>
                  <a:lnTo>
                    <a:pt x="0" y="724356"/>
                  </a:lnTo>
                  <a:close/>
                </a:path>
              </a:pathLst>
            </a:custGeom>
            <a:solidFill>
              <a:srgbClr val="16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62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949812" y="3117948"/>
          <a:ext cx="8493594" cy="2497144"/>
        </p:xfrm>
        <a:graphic>
          <a:graphicData uri="http://schemas.openxmlformats.org/drawingml/2006/table">
            <a:tbl>
              <a:tblPr/>
              <a:tblGrid>
                <a:gridCol w="1827473"/>
                <a:gridCol w="2371337"/>
                <a:gridCol w="1667513"/>
                <a:gridCol w="2627272"/>
              </a:tblGrid>
              <a:tr h="8323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Model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Test Accuracy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Epochs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Training Time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ResNet18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97.49%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Fast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3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ViT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90.81%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35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2.3x more epochs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1582805"/>
            <a:ext cx="118231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Results - Benchmark Accuracy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76034"/>
            <a:ext cx="17259300" cy="2522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7"/>
              </a:lnSpc>
            </a:pPr>
            <a:r>
              <a:rPr lang="en-US" sz="2199" spc="21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Per-class Highlights:</a:t>
            </a:r>
          </a:p>
          <a:p>
            <a:pPr algn="l" marL="431801" indent="-215900" lvl="1">
              <a:lnSpc>
                <a:spcPts val="3980"/>
              </a:lnSpc>
              <a:buFont typeface="Arial"/>
              <a:buChar char="•"/>
            </a:pPr>
            <a:r>
              <a:rPr lang="en-US" sz="2000" spc="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ResNet18: 29 out of 36 classes at 100% accuracy</a:t>
            </a:r>
          </a:p>
          <a:p>
            <a:pPr algn="l" marL="431801" indent="-215900" lvl="1">
              <a:lnSpc>
                <a:spcPts val="3980"/>
              </a:lnSpc>
              <a:buFont typeface="Arial"/>
              <a:buChar char="•"/>
            </a:pPr>
            <a:r>
              <a:rPr lang="en-US" sz="2000" spc="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ViT: 18 out of 36 classes at 100% accuracy</a:t>
            </a:r>
          </a:p>
          <a:p>
            <a:pPr algn="l" marL="431801" indent="-215900" lvl="1">
              <a:lnSpc>
                <a:spcPts val="3980"/>
              </a:lnSpc>
              <a:buFont typeface="Arial"/>
              <a:buChar char="•"/>
            </a:pPr>
            <a:r>
              <a:rPr lang="en-US" sz="2000" spc="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Hardest classes for both models: apple (50% ViT / 90% ResNet), banana (77.8% ViT / 77.8% ResNet), potato (70% ViT / 80% ResNet)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0"/>
            <a:ext cx="18288000" cy="2750289"/>
            <a:chOff x="0" y="0"/>
            <a:chExt cx="4816593" cy="72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24356"/>
            </a:xfrm>
            <a:custGeom>
              <a:avLst/>
              <a:gdLst/>
              <a:ahLst/>
              <a:cxnLst/>
              <a:rect r="r" b="b" t="t" l="l"/>
              <a:pathLst>
                <a:path h="7243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24356"/>
                  </a:lnTo>
                  <a:lnTo>
                    <a:pt x="0" y="724356"/>
                  </a:lnTo>
                  <a:close/>
                </a:path>
              </a:pathLst>
            </a:custGeom>
            <a:solidFill>
              <a:srgbClr val="16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62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98464" y="3029289"/>
          <a:ext cx="9020706" cy="2952750"/>
        </p:xfrm>
        <a:graphic>
          <a:graphicData uri="http://schemas.openxmlformats.org/drawingml/2006/table">
            <a:tbl>
              <a:tblPr/>
              <a:tblGrid>
                <a:gridCol w="1701534"/>
                <a:gridCol w="1646158"/>
                <a:gridCol w="1467198"/>
                <a:gridCol w="1402256"/>
                <a:gridCol w="1449677"/>
                <a:gridCol w="1353882"/>
              </a:tblGrid>
              <a:tr h="492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Image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True Label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ResNet18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Confidence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Confidence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Banana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banana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banana ✅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99.7%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soy beans ❌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94.9%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capsicum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capsicum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capsicum ✅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81.5%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banana ❌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40.6%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jalapeno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jalapeno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jalapeno ✅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93.4%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jalapeno ✅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71.6%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onion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onion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onion ✅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67.4%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onion ✅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54.1%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potato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potato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potato ✅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36.6%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beetroot ❌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73.9%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9658033" y="3029289"/>
            <a:ext cx="8344946" cy="6957599"/>
          </a:xfrm>
          <a:custGeom>
            <a:avLst/>
            <a:gdLst/>
            <a:ahLst/>
            <a:cxnLst/>
            <a:rect r="r" b="b" t="t" l="l"/>
            <a:pathLst>
              <a:path h="6957599" w="8344946">
                <a:moveTo>
                  <a:pt x="0" y="0"/>
                </a:moveTo>
                <a:lnTo>
                  <a:pt x="8344946" y="0"/>
                </a:lnTo>
                <a:lnTo>
                  <a:pt x="8344946" y="6957599"/>
                </a:lnTo>
                <a:lnTo>
                  <a:pt x="0" y="6957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8464" y="1618318"/>
            <a:ext cx="118231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Real-World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8464" y="6327113"/>
            <a:ext cx="7355532" cy="237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2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</a:t>
            </a: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ottom line: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ResNet18: </a:t>
            </a: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5/5 (100%)</a:t>
            </a: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on unseen real photos</a:t>
            </a:r>
          </a:p>
          <a:p>
            <a:pPr algn="l" marL="518160" indent="-259080" lvl="1">
              <a:lnSpc>
                <a:spcPts val="48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ViT: 2/5 (40%) on unseen real photos</a:t>
            </a:r>
          </a:p>
          <a:p>
            <a:pPr algn="l">
              <a:lnSpc>
                <a:spcPts val="48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0"/>
            <a:ext cx="18288000" cy="2750289"/>
            <a:chOff x="0" y="0"/>
            <a:chExt cx="4816593" cy="72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24356"/>
            </a:xfrm>
            <a:custGeom>
              <a:avLst/>
              <a:gdLst/>
              <a:ahLst/>
              <a:cxnLst/>
              <a:rect r="r" b="b" t="t" l="l"/>
              <a:pathLst>
                <a:path h="7243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24356"/>
                  </a:lnTo>
                  <a:lnTo>
                    <a:pt x="0" y="724356"/>
                  </a:lnTo>
                  <a:close/>
                </a:path>
              </a:pathLst>
            </a:custGeom>
            <a:solidFill>
              <a:srgbClr val="16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62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582805"/>
            <a:ext cx="118231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Takeaways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29601"/>
            <a:ext cx="13078271" cy="336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sz="2599" spc="2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What we learned:</a:t>
            </a:r>
          </a:p>
          <a:p>
            <a:pPr algn="l" marL="474979" indent="-237490" lvl="1">
              <a:lnSpc>
                <a:spcPts val="4377"/>
              </a:lnSpc>
              <a:buFont typeface="Arial"/>
              <a:buChar char="•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Transfer learning is the clear winner</a:t>
            </a:r>
          </a:p>
          <a:p>
            <a:pPr algn="l" marL="949959" indent="-316653" lvl="2">
              <a:lnSpc>
                <a:spcPts val="4377"/>
              </a:lnSpc>
              <a:buFont typeface="Arial"/>
              <a:buChar char="⚬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+6.7% accuracy, 2.3x fewer epochs, 100% real-world robustness</a:t>
            </a:r>
          </a:p>
          <a:p>
            <a:pPr algn="l" marL="474979" indent="-237490" lvl="1">
              <a:lnSpc>
                <a:spcPts val="4377"/>
              </a:lnSpc>
              <a:buFont typeface="Arial"/>
              <a:buChar char="•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ViTs need large-scale pretraing to compete</a:t>
            </a:r>
          </a:p>
          <a:p>
            <a:pPr algn="l" marL="949959" indent="-316653" lvl="2">
              <a:lnSpc>
                <a:spcPts val="4377"/>
              </a:lnSpc>
              <a:buFont typeface="Arial"/>
              <a:buChar char="⚬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3.7k dataset is too small</a:t>
            </a:r>
          </a:p>
          <a:p>
            <a:pPr algn="l" marL="474979" indent="-237490" lvl="1">
              <a:lnSpc>
                <a:spcPts val="4377"/>
              </a:lnSpc>
              <a:buFont typeface="Arial"/>
              <a:buChar char="•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Both models struggle with visually similar classes (apple, potato, banana)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517728"/>
            <a:ext cx="10657582" cy="336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sz="2599" spc="2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Future Direction:</a:t>
            </a:r>
          </a:p>
          <a:p>
            <a:pPr algn="l" marL="474979" indent="-237490" lvl="1">
              <a:lnSpc>
                <a:spcPts val="4377"/>
              </a:lnSpc>
              <a:buFont typeface="Arial"/>
              <a:buChar char="•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 pretrained ViT weights instead of training from scratch</a:t>
            </a:r>
          </a:p>
          <a:p>
            <a:pPr algn="l" marL="949959" indent="-316653" lvl="2">
              <a:lnSpc>
                <a:spcPts val="4377"/>
              </a:lnSpc>
              <a:buFont typeface="Arial"/>
              <a:buChar char="⚬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(ViT-B/16 from ImageNet-21K)</a:t>
            </a:r>
          </a:p>
          <a:p>
            <a:pPr algn="l" marL="474979" indent="-237490" lvl="1">
              <a:lnSpc>
                <a:spcPts val="4377"/>
              </a:lnSpc>
              <a:buFont typeface="Arial"/>
              <a:buChar char="•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Stronger data augmentation</a:t>
            </a:r>
          </a:p>
          <a:p>
            <a:pPr algn="l" marL="949959" indent="-316653" lvl="2">
              <a:lnSpc>
                <a:spcPts val="4377"/>
              </a:lnSpc>
              <a:buFont typeface="Arial"/>
              <a:buChar char="⚬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Mixup, CutMix, Color Jitter</a:t>
            </a:r>
          </a:p>
          <a:p>
            <a:pPr algn="l" marL="474979" indent="-237490" lvl="1">
              <a:lnSpc>
                <a:spcPts val="4377"/>
              </a:lnSpc>
              <a:buFont typeface="Arial"/>
              <a:buChar char="•"/>
            </a:pPr>
            <a:r>
              <a:rPr lang="en-US" sz="2199" spc="2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Expand dataset or use few-shot learning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51812" y="3289590"/>
            <a:ext cx="7184376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36657" y="5965960"/>
            <a:ext cx="14214686" cy="92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6"/>
              </a:lnSpc>
            </a:pPr>
            <a:r>
              <a:rPr lang="en-US" sz="2861" spc="286">
                <a:solidFill>
                  <a:srgbClr val="16130D"/>
                </a:solidFill>
                <a:latin typeface="Garet"/>
                <a:ea typeface="Garet"/>
                <a:cs typeface="Garet"/>
                <a:sym typeface="Garet"/>
              </a:rPr>
              <a:t>GROCERY CLASSIFICATION: CNN VS. VISION TRANSFORMER</a:t>
            </a:r>
          </a:p>
          <a:p>
            <a:pPr algn="ctr">
              <a:lnSpc>
                <a:spcPts val="3359"/>
              </a:lnSpc>
            </a:pPr>
            <a:r>
              <a:rPr lang="en-US" sz="2400" spc="240">
                <a:solidFill>
                  <a:srgbClr val="16130D"/>
                </a:solidFill>
                <a:latin typeface="Garet"/>
                <a:ea typeface="Garet"/>
                <a:cs typeface="Garet"/>
                <a:sym typeface="Garet"/>
              </a:rPr>
              <a:t>A study of transfer learning vs. training from scratch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36657" y="7460726"/>
            <a:ext cx="1421468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240">
                <a:solidFill>
                  <a:srgbClr val="16130D"/>
                </a:solidFill>
                <a:latin typeface="Garet"/>
                <a:ea typeface="Garet"/>
                <a:cs typeface="Garet"/>
                <a:sym typeface="Garet"/>
              </a:rPr>
              <a:t>Vineela Goli | CS 5330 | Northeastern University</a:t>
            </a:r>
          </a:p>
        </p:txBody>
      </p:sp>
      <p:sp>
        <p:nvSpPr>
          <p:cNvPr name="AutoShape 5" id="5"/>
          <p:cNvSpPr/>
          <p:nvPr/>
        </p:nvSpPr>
        <p:spPr>
          <a:xfrm>
            <a:off x="2872273" y="7194282"/>
            <a:ext cx="12607362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DAHHrHN3fRA</dc:identifier>
  <dcterms:modified xsi:type="dcterms:W3CDTF">2011-08-01T06:04:30Z</dcterms:modified>
  <cp:revision>1</cp:revision>
  <dc:title>Black and White Monochrome Minimalist Company Presentation</dc:title>
</cp:coreProperties>
</file>